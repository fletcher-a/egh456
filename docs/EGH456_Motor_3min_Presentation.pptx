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script (~90s): This diagram shows our full motor signal path. The TM4C1294 sends commutation PWM to the DRV832X through BoosterPack header 1. Power stage output goes through the QUT motor interface board to the 3-phase BLDC. Hall A/B/C comes back to the MCU as rotor feedback used for speed estimation and state transitions. Current feedback from the DRV stage is used for power monitoring and safety trip logic. The touchscreen provides operator control and runtime state visibility. So the system integrates actuation, sensing, and safety in one controlled loop.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script (~90s): We implement the required state machine with explicit transitions and safety latching. In normal operation, desired speed updates a ramped reference with 500 RPM/s limits. On any E-stop condition, user commands are ignored, estop_active asserts, and reference decelerates at 1000 RPM/s. Once speed reaches stop, the controller remains fault latched until operator acknowledgment. These channels on the serial plot provide direct evidence for marking against task 2.1.3, 2.1.5, and 2.1.9.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365760" y="137160"/>
            <a:ext cx="11521440" cy="640080"/>
          </a:xfrm>
          <a:prstGeom prst="rect">
            <a:avLst/>
          </a:prstGeom>
          <a:noFill/>
        </p:spPr>
        <p:txBody>
          <a:bodyPr wrap="none">
            <a:spAutoFit/>
          </a:bodyPr>
          <a:lstStyle/>
          <a:p>
            <a:pPr>
              <a:defRPr sz="2800" b="1">
                <a:solidFill>
                  <a:srgbClr val="F1F5F9"/>
                </a:solidFill>
              </a:defRPr>
            </a:pPr>
            <a:r>
              <a:t>Motor Subsystem Hardware Flow (from provided architecture diagram)</a:t>
            </a:r>
          </a:p>
        </p:txBody>
      </p:sp>
      <p:sp>
        <p:nvSpPr>
          <p:cNvPr id="3" name="TextBox 2"/>
          <p:cNvSpPr txBox="1"/>
          <p:nvPr/>
        </p:nvSpPr>
        <p:spPr>
          <a:xfrm>
            <a:off x="365760" y="713232"/>
            <a:ext cx="10972800" cy="320040"/>
          </a:xfrm>
          <a:prstGeom prst="rect">
            <a:avLst/>
          </a:prstGeom>
          <a:noFill/>
        </p:spPr>
        <p:txBody>
          <a:bodyPr wrap="none">
            <a:spAutoFit/>
          </a:bodyPr>
          <a:lstStyle/>
          <a:p>
            <a:pPr>
              <a:defRPr sz="1400">
                <a:solidFill>
                  <a:srgbClr val="94A3B8"/>
                </a:solidFill>
              </a:defRPr>
            </a:pPr>
            <a:r>
              <a:t>TM4C1294 controls DRV832X commutation and reads Hall/current feedback for safe BLDC operation</a:t>
            </a:r>
          </a:p>
        </p:txBody>
      </p:sp>
      <p:pic>
        <p:nvPicPr>
          <p:cNvPr id="4" name="Picture 3" descr="Screenshot_2026-05-27_at_11.40.52_am-31129e97-df70-4924-9416-3aefdeb0afbf.png"/>
          <p:cNvPicPr>
            <a:picLocks noChangeAspect="1"/>
          </p:cNvPicPr>
          <p:nvPr/>
        </p:nvPicPr>
        <p:blipFill>
          <a:blip r:embed="rId2"/>
          <a:stretch>
            <a:fillRect/>
          </a:stretch>
        </p:blipFill>
        <p:spPr>
          <a:xfrm>
            <a:off x="457200" y="1097280"/>
            <a:ext cx="7498079" cy="3587948"/>
          </a:xfrm>
          <a:prstGeom prst="rect">
            <a:avLst/>
          </a:prstGeom>
        </p:spPr>
      </p:pic>
      <p:sp>
        <p:nvSpPr>
          <p:cNvPr id="5" name="Rounded Rectangle 4"/>
          <p:cNvSpPr/>
          <p:nvPr/>
        </p:nvSpPr>
        <p:spPr>
          <a:xfrm>
            <a:off x="8138160" y="1097280"/>
            <a:ext cx="3657600" cy="5303520"/>
          </a:xfrm>
          <a:prstGeom prst="roundRect">
            <a:avLst/>
          </a:prstGeom>
          <a:solidFill>
            <a:srgbClr val="1E293B"/>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1F5F9"/>
                </a:solidFill>
              </a:defRPr>
            </a:pPr>
            <a:r>
              <a:t>What this motor system does</a:t>
            </a:r>
          </a:p>
          <a:p>
            <a:pPr>
              <a:defRPr sz="1250" b="0">
                <a:solidFill>
                  <a:srgbClr val="E2E8F0"/>
                </a:solidFill>
              </a:defRPr>
            </a:pPr>
            <a:r>
              <a:t>1) MCU outputs 3-phase PWM to DRV832X via BoosterPack header.</a:t>
            </a:r>
          </a:p>
          <a:p>
            <a:pPr>
              <a:defRPr sz="1250" b="0">
                <a:solidFill>
                  <a:srgbClr val="E2E8F0"/>
                </a:solidFill>
              </a:defRPr>
            </a:pPr>
            <a:r>
              <a:t>2) DRV832X drives the motor phases through the QUT motor interface board.</a:t>
            </a:r>
          </a:p>
          <a:p>
            <a:pPr>
              <a:defRPr sz="1250" b="0">
                <a:solidFill>
                  <a:srgbClr val="E2E8F0"/>
                </a:solidFill>
              </a:defRPr>
            </a:pPr>
            <a:r>
              <a:t>3) Hall A/B/C returns rotor position/speed to MCU for feedback.</a:t>
            </a:r>
          </a:p>
          <a:p>
            <a:pPr>
              <a:defRPr sz="1250" b="0">
                <a:solidFill>
                  <a:srgbClr val="E2E8F0"/>
                </a:solidFill>
              </a:defRPr>
            </a:pPr>
            <a:r>
              <a:t>4) Current feedback returns from DRV board for power monitoring/E-stop.</a:t>
            </a:r>
          </a:p>
          <a:p>
            <a:pPr>
              <a:defRPr sz="1250" b="0">
                <a:solidFill>
                  <a:srgbClr val="E2E8F0"/>
                </a:solidFill>
              </a:defRPr>
            </a:pPr>
            <a:r>
              <a:t>5) Touchscreen gives start/stop/speed commands and shows state live.</a:t>
            </a:r>
          </a:p>
          <a:p>
            <a:pPr>
              <a:defRPr sz="1250" b="0">
                <a:solidFill>
                  <a:srgbClr val="E2E8F0"/>
                </a:solidFill>
              </a:defRPr>
            </a:pPr>
            <a:r>
              <a:t>6) Sensor path provides accel/lux/power evidence and E-stop triggers.</a:t>
            </a:r>
          </a:p>
          <a:p>
            <a:pPr>
              <a:defRPr sz="1250" b="0">
                <a:solidFill>
                  <a:srgbClr val="E2E8F0"/>
                </a:solidFill>
              </a:defRPr>
            </a:pPr>
          </a:p>
          <a:p>
            <a:pPr>
              <a:defRPr sz="1600" b="1">
                <a:solidFill>
                  <a:srgbClr val="F1F5F9"/>
                </a:solidFill>
              </a:defRPr>
            </a:pPr>
            <a:r>
              <a:t>Result: safe closed-loop-ready BLDC control with fault latching.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365760" y="137160"/>
            <a:ext cx="11521440" cy="640080"/>
          </a:xfrm>
          <a:prstGeom prst="rect">
            <a:avLst/>
          </a:prstGeom>
          <a:noFill/>
        </p:spPr>
        <p:txBody>
          <a:bodyPr wrap="none">
            <a:spAutoFit/>
          </a:bodyPr>
          <a:lstStyle/>
          <a:p>
            <a:pPr>
              <a:defRPr sz="3000" b="1">
                <a:solidFill>
                  <a:srgbClr val="F1F5F9"/>
                </a:solidFill>
              </a:defRPr>
            </a:pPr>
            <a:r>
              <a:t>Motor State Machine and Evidence (Task 2.1)</a:t>
            </a:r>
          </a:p>
        </p:txBody>
      </p:sp>
      <p:sp>
        <p:nvSpPr>
          <p:cNvPr id="3" name="TextBox 2"/>
          <p:cNvSpPr txBox="1"/>
          <p:nvPr/>
        </p:nvSpPr>
        <p:spPr>
          <a:xfrm>
            <a:off x="365760" y="731520"/>
            <a:ext cx="10972800" cy="365760"/>
          </a:xfrm>
          <a:prstGeom prst="rect">
            <a:avLst/>
          </a:prstGeom>
          <a:noFill/>
        </p:spPr>
        <p:txBody>
          <a:bodyPr wrap="none">
            <a:spAutoFit/>
          </a:bodyPr>
          <a:lstStyle/>
          <a:p>
            <a:pPr>
              <a:defRPr sz="1400">
                <a:solidFill>
                  <a:srgbClr val="94A3B8"/>
                </a:solidFill>
              </a:defRPr>
            </a:pPr>
            <a:r>
              <a:t>States, ramps, E-stop behaviour, and serial plot channels used for marking evidence</a:t>
            </a:r>
          </a:p>
        </p:txBody>
      </p:sp>
      <p:sp>
        <p:nvSpPr>
          <p:cNvPr id="4" name="Rounded Rectangle 3"/>
          <p:cNvSpPr/>
          <p:nvPr/>
        </p:nvSpPr>
        <p:spPr>
          <a:xfrm>
            <a:off x="457200" y="1188720"/>
            <a:ext cx="5760720" cy="5394960"/>
          </a:xfrm>
          <a:prstGeom prst="roundRect">
            <a:avLst/>
          </a:prstGeom>
          <a:solidFill>
            <a:srgbClr val="1E293B"/>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1F5F9"/>
                </a:solidFill>
              </a:defRPr>
            </a:pPr>
            <a:r>
              <a:t>State machine implemented</a:t>
            </a:r>
          </a:p>
          <a:p>
            <a:pPr>
              <a:defRPr sz="1300" b="0">
                <a:solidFill>
                  <a:srgbClr val="E2E8F0"/>
                </a:solidFill>
              </a:defRPr>
            </a:pPr>
            <a:r>
              <a:t>• Idle → Starting → Running → Stopping</a:t>
            </a:r>
          </a:p>
          <a:p>
            <a:pPr>
              <a:defRPr sz="1300" b="0">
                <a:solidFill>
                  <a:srgbClr val="E2E8F0"/>
                </a:solidFill>
              </a:defRPr>
            </a:pPr>
            <a:r>
              <a:t>• Fault/event → E-Stop Braking → Fault Latched</a:t>
            </a:r>
          </a:p>
          <a:p>
            <a:pPr>
              <a:defRPr sz="1300" b="0">
                <a:solidFill>
                  <a:srgbClr val="E2E8F0"/>
                </a:solidFill>
              </a:defRPr>
            </a:pPr>
            <a:r>
              <a:t>• User ACK required before returning to Idle</a:t>
            </a:r>
          </a:p>
          <a:p>
            <a:pPr>
              <a:defRPr sz="1300" b="0">
                <a:solidFill>
                  <a:srgbClr val="E2E8F0"/>
                </a:solidFill>
              </a:defRPr>
            </a:pPr>
          </a:p>
          <a:p>
            <a:pPr>
              <a:defRPr sz="1600" b="1">
                <a:solidFill>
                  <a:srgbClr val="F1F5F9"/>
                </a:solidFill>
              </a:defRPr>
            </a:pPr>
            <a:r>
              <a:t>Control/ramp constraints</a:t>
            </a:r>
          </a:p>
          <a:p>
            <a:pPr>
              <a:defRPr sz="1300" b="0">
                <a:solidFill>
                  <a:srgbClr val="E2E8F0"/>
                </a:solidFill>
              </a:defRPr>
            </a:pPr>
            <a:r>
              <a:t>• Acceleration ≤ 500 RPM/s</a:t>
            </a:r>
          </a:p>
          <a:p>
            <a:pPr>
              <a:defRPr sz="1300" b="0">
                <a:solidFill>
                  <a:srgbClr val="E2E8F0"/>
                </a:solidFill>
              </a:defRPr>
            </a:pPr>
            <a:r>
              <a:t>• Normal deceleration ≤ 500 RPM/s</a:t>
            </a:r>
          </a:p>
          <a:p>
            <a:pPr>
              <a:defRPr sz="1300" b="0">
                <a:solidFill>
                  <a:srgbClr val="E2E8F0"/>
                </a:solidFill>
              </a:defRPr>
            </a:pPr>
            <a:r>
              <a:t>• E-stop deceleration = 1000 RPM/s</a:t>
            </a:r>
          </a:p>
          <a:p>
            <a:pPr>
              <a:defRPr sz="1300" b="0">
                <a:solidFill>
                  <a:srgbClr val="E2E8F0"/>
                </a:solidFill>
              </a:defRPr>
            </a:pPr>
          </a:p>
          <a:p>
            <a:pPr>
              <a:defRPr sz="1600" b="1">
                <a:solidFill>
                  <a:srgbClr val="F1F5F9"/>
                </a:solidFill>
              </a:defRPr>
            </a:pPr>
            <a:r>
              <a:t>Serial plot evidence (UART 115200)</a:t>
            </a:r>
          </a:p>
          <a:p>
            <a:pPr>
              <a:defRPr sz="1300" b="0">
                <a:solidFill>
                  <a:srgbClr val="E2E8F0"/>
                </a:solidFill>
              </a:defRPr>
            </a:pPr>
            <a:r>
              <a:t>• desired_rpm, reference_rpm, actual_rpm, duty_percent</a:t>
            </a:r>
          </a:p>
          <a:p>
            <a:pPr>
              <a:defRPr sz="1300" b="0">
                <a:solidFill>
                  <a:srgbClr val="E2E8F0"/>
                </a:solidFill>
              </a:defRPr>
            </a:pPr>
            <a:r>
              <a:t>• estop_active (step marker), hall_display_rpm</a:t>
            </a:r>
          </a:p>
        </p:txBody>
      </p:sp>
      <p:sp>
        <p:nvSpPr>
          <p:cNvPr id="5" name="Rounded Rectangle 4"/>
          <p:cNvSpPr/>
          <p:nvPr/>
        </p:nvSpPr>
        <p:spPr>
          <a:xfrm>
            <a:off x="6492240" y="1188720"/>
            <a:ext cx="5212080" cy="5394960"/>
          </a:xfrm>
          <a:prstGeom prst="roundRect">
            <a:avLst/>
          </a:prstGeom>
          <a:solidFill>
            <a:srgbClr val="1E293B"/>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defRPr b="1" sz="1600">
                <a:solidFill>
                  <a:srgbClr val="F1F5F9"/>
                </a:solidFill>
              </a:defRPr>
            </a:pPr>
            <a:r>
              <a:t>3-minute demo flow</a:t>
            </a:r>
          </a:p>
          <a:p>
            <a:pPr>
              <a:defRPr sz="1300">
                <a:solidFill>
                  <a:srgbClr val="E2E8F0"/>
                </a:solidFill>
              </a:defRPr>
            </a:pPr>
            <a:r>
              <a:t>1) START at low RPM: show Idle → Starting → Running</a:t>
            </a:r>
          </a:p>
          <a:p>
            <a:pPr>
              <a:defRPr sz="1300">
                <a:solidFill>
                  <a:srgbClr val="E2E8F0"/>
                </a:solidFill>
              </a:defRPr>
            </a:pPr>
            <a:r>
              <a:t>2) Increase speed: reference ramps at 500 RPM/s</a:t>
            </a:r>
          </a:p>
          <a:p>
            <a:pPr>
              <a:defRPr sz="1300">
                <a:solidFill>
                  <a:srgbClr val="E2E8F0"/>
                </a:solidFill>
              </a:defRPr>
            </a:pPr>
            <a:r>
              <a:t>3) Trigger E-stop (power/accel): estop_active rises</a:t>
            </a:r>
          </a:p>
          <a:p>
            <a:pPr>
              <a:defRPr sz="1300">
                <a:solidFill>
                  <a:srgbClr val="E2E8F0"/>
                </a:solidFill>
              </a:defRPr>
            </a:pPr>
            <a:r>
              <a:t>4) Observe fast reference drop at 1000 RPM/s</a:t>
            </a:r>
          </a:p>
          <a:p>
            <a:pPr>
              <a:defRPr sz="1300">
                <a:solidFill>
                  <a:srgbClr val="E2E8F0"/>
                </a:solidFill>
              </a:defRPr>
            </a:pPr>
            <a:r>
              <a:t>5) Fault latched until ACK, then back to Idle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RTOS Integration (2.1.6)</a:t>
            </a:r>
          </a:p>
        </p:txBody>
      </p:sp>
      <p:sp>
        <p:nvSpPr>
          <p:cNvPr id="3" name="Content Placeholder 2"/>
          <p:cNvSpPr>
            <a:spLocks noGrp="1"/>
          </p:cNvSpPr>
          <p:nvPr>
            <p:ph idx="1"/>
          </p:nvPr>
        </p:nvSpPr>
        <p:spPr/>
        <p:txBody>
          <a:bodyPr/>
          <a:lstStyle/>
          <a:p>
            <a:pPr>
              <a:spcAft>
                <a:spcPts val="1000"/>
              </a:spcAft>
              <a:defRPr sz="1300">
                <a:solidFill>
                  <a:srgbClr val="555555"/>
                </a:solidFill>
              </a:defRPr>
            </a:pPr>
            <a:r>
              <a:t>EGH456 — FreeRTOS: ISRs, motor task, E-stop, prioritisation</a:t>
            </a:r>
          </a:p>
          <a:p>
            <a:pPr>
              <a:spcAft>
                <a:spcPts val="300"/>
              </a:spcAft>
              <a:defRPr sz="1300" b="1"/>
            </a:pPr>
            <a:r>
              <a:t>ISRs — hall speed + sensor sampling</a:t>
            </a:r>
          </a:p>
          <a:p>
            <a:pPr lvl="1">
              <a:spcAft>
                <a:spcPts val="300"/>
              </a:spcAft>
              <a:defRPr sz="1200" b="0"/>
            </a:pPr>
            <a:r>
              <a:t>HallPortM / H / N: GPIO IRQ → g_edges + commutation (no blocking RTOS calls)</a:t>
            </a:r>
          </a:p>
          <a:p>
            <a:pPr lvl="1">
              <a:spcAft>
                <a:spcPts val="300"/>
              </a:spcAft>
              <a:defRPr sz="1200" b="0"/>
            </a:pPr>
            <a:r>
              <a:t>ADC1Seq0 → xPowerRawQueue (FromISR)  ·  Timer2A → accel semaphore (FromISR)</a:t>
            </a:r>
          </a:p>
          <a:p>
            <a:pPr lvl="1">
              <a:spcAft>
                <a:spcPts val="300"/>
              </a:spcAft>
              <a:defRPr sz="1200" b="0"/>
            </a:pPr>
            <a:r>
              <a:t>RPM calculated in Speed task (100 Hz), not inside hall ISR</a:t>
            </a:r>
          </a:p>
          <a:p>
            <a:pPr>
              <a:spcAft>
                <a:spcPts val="300"/>
              </a:spcAft>
              <a:defRPr sz="1300" b="1"/>
            </a:pPr>
            <a:r>
              <a:t>Motor task — 10 ms, priority idle+4</a:t>
            </a:r>
          </a:p>
          <a:p>
            <a:pPr lvl="1">
              <a:spcAft>
                <a:spcPts val="300"/>
              </a:spcAft>
              <a:defRPr sz="1200" b="0"/>
            </a:pPr>
            <a:r>
              <a:t>State machine  ·  Ramp (500 / 1000 RPM/s)  ·  Duty from reference</a:t>
            </a:r>
          </a:p>
          <a:p>
            <a:pPr>
              <a:spcAft>
                <a:spcPts val="300"/>
              </a:spcAft>
              <a:defRPr sz="1300" b="1"/>
            </a:pPr>
            <a:r>
              <a:t>Fault / E-stop — event group xSystemEvents</a:t>
            </a:r>
          </a:p>
          <a:p>
            <a:pPr lvl="1">
              <a:spcAft>
                <a:spcPts val="300"/>
              </a:spcAft>
              <a:defRPr sz="1200" b="0"/>
            </a:pPr>
            <a:r>
              <a:t>Sensor: EVT_ESTOP_POWER, EVT_ESTOP_ACCEL  →  Motor: ESTOP_BRAKING → FAULT</a:t>
            </a:r>
          </a:p>
          <a:p>
            <a:pPr lvl="1">
              <a:spcAft>
                <a:spcPts val="300"/>
              </a:spcAft>
              <a:defRPr sz="1200" b="0"/>
            </a:pPr>
            <a:r>
              <a:t>GUI: START/STOP/ACK bits + xCommandQueue (mutex)</a:t>
            </a:r>
          </a:p>
          <a:p>
            <a:pPr lvl="1">
              <a:spcAft>
                <a:spcPts val="300"/>
              </a:spcAft>
              <a:defRPr sz="1200" b="0"/>
            </a:pPr>
            <a:r>
              <a:t>Fault task (idle+1): UART logging only</a:t>
            </a:r>
          </a:p>
          <a:p>
            <a:pPr>
              <a:spcAft>
                <a:spcPts val="300"/>
              </a:spcAft>
              <a:defRPr sz="1300" b="1"/>
            </a:pPr>
            <a:r>
              <a:t>Priorities: Speed/GUI/Plot (+5) &gt; Motor/AccSamp (+4) &gt; Sensor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RTOS Communication</a:t>
            </a:r>
          </a:p>
        </p:txBody>
      </p:sp>
      <p:sp>
        <p:nvSpPr>
          <p:cNvPr id="3" name="Content Placeholder 2"/>
          <p:cNvSpPr>
            <a:spLocks noGrp="1"/>
          </p:cNvSpPr>
          <p:nvPr>
            <p:ph idx="1"/>
          </p:nvPr>
        </p:nvSpPr>
        <p:spPr/>
        <p:txBody>
          <a:bodyPr/>
          <a:lstStyle/>
          <a:p>
            <a:pPr algn="l">
              <a:defRPr sz="1300">
                <a:latin typeface="Courier New"/>
              </a:defRPr>
            </a:pPr>
            <a:r>
              <a:t>Hall ISR  →  Speed task  →  Motor task (control loop)</a:t>
            </a:r>
            <a:br/>
            <a:r>
              <a:t>ADC ISR   →  queue       →  Sensor task  →  event bits  →  Motor</a:t>
            </a:r>
            <a:br/>
            <a:r>
              <a:t>Timer ISR →  semaphore   →  AccSamp task →  Sensor</a:t>
            </a:r>
            <a:br/>
            <a:r>
              <a:t>GUI       →  queue + events  →  Motor  →  queue  →  GUI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